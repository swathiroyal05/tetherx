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Average" panose="020B0604020202020204" charset="0"/>
      <p:regular r:id="rId14"/>
    </p:embeddedFont>
    <p:embeddedFont>
      <p:font typeface="Oswald" panose="020F0502020204030204" pitchFamily="2" charset="0"/>
      <p:regular r:id="rId15"/>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h0nr37hfYskXLbU/v2yLSoeA7PX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0" d="100"/>
          <a:sy n="80" d="100"/>
        </p:scale>
        <p:origin x="880" y="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font" Target="fonts/font3.fntdata"/><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 name="Google Shape;49;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 name="Google Shape;5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1" name="Google Shape;11;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2" name="Google Shape;12;p13"/>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14"/>
          <p:cNvSpPr txBox="1">
            <a:spLocks noGrp="1"/>
          </p:cNvSpPr>
          <p:nvPr>
            <p:ph type="title"/>
          </p:nvPr>
        </p:nvSpPr>
        <p:spPr>
          <a:xfrm>
            <a:off x="671250" y="2141250"/>
            <a:ext cx="7852200" cy="8610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14"/>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6"/>
        <p:cNvGrpSpPr/>
        <p:nvPr/>
      </p:nvGrpSpPr>
      <p:grpSpPr>
        <a:xfrm>
          <a:off x="0" y="0"/>
          <a:ext cx="0" cy="0"/>
          <a:chOff x="0" y="0"/>
          <a:chExt cx="0" cy="0"/>
        </a:xfrm>
      </p:grpSpPr>
      <p:sp>
        <p:nvSpPr>
          <p:cNvPr id="17" name="Google Shape;17;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8" name="Google Shape;18;p1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9" name="Google Shape;19;p1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0" name="Google Shape;20;p15"/>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1"/>
        <p:cNvGrpSpPr/>
        <p:nvPr/>
      </p:nvGrpSpPr>
      <p:grpSpPr>
        <a:xfrm>
          <a:off x="0" y="0"/>
          <a:ext cx="0" cy="0"/>
          <a:chOff x="0" y="0"/>
          <a:chExt cx="0" cy="0"/>
        </a:xfrm>
      </p:grpSpPr>
      <p:sp>
        <p:nvSpPr>
          <p:cNvPr id="22" name="Google Shape;2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23" name="Google Shape;23;p16"/>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4"/>
        <p:cNvGrpSpPr/>
        <p:nvPr/>
      </p:nvGrpSpPr>
      <p:grpSpPr>
        <a:xfrm>
          <a:off x="0" y="0"/>
          <a:ext cx="0" cy="0"/>
          <a:chOff x="0" y="0"/>
          <a:chExt cx="0" cy="0"/>
        </a:xfrm>
      </p:grpSpPr>
      <p:sp>
        <p:nvSpPr>
          <p:cNvPr id="25" name="Google Shape;25;p1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26" name="Google Shape;26;p1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7" name="Google Shape;27;p17"/>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28"/>
        <p:cNvGrpSpPr/>
        <p:nvPr/>
      </p:nvGrpSpPr>
      <p:grpSpPr>
        <a:xfrm>
          <a:off x="0" y="0"/>
          <a:ext cx="0" cy="0"/>
          <a:chOff x="0" y="0"/>
          <a:chExt cx="0" cy="0"/>
        </a:xfrm>
      </p:grpSpPr>
      <p:sp>
        <p:nvSpPr>
          <p:cNvPr id="29" name="Google Shape;29;p18"/>
          <p:cNvSpPr txBox="1">
            <a:spLocks noGrp="1"/>
          </p:cNvSpPr>
          <p:nvPr>
            <p:ph type="title"/>
          </p:nvPr>
        </p:nvSpPr>
        <p:spPr>
          <a:xfrm>
            <a:off x="490250" y="526350"/>
            <a:ext cx="62271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a:endParaRPr/>
          </a:p>
        </p:txBody>
      </p:sp>
      <p:sp>
        <p:nvSpPr>
          <p:cNvPr id="30" name="Google Shape;30;p18"/>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1"/>
        <p:cNvGrpSpPr/>
        <p:nvPr/>
      </p:nvGrpSpPr>
      <p:grpSpPr>
        <a:xfrm>
          <a:off x="0" y="0"/>
          <a:ext cx="0" cy="0"/>
          <a:chOff x="0" y="0"/>
          <a:chExt cx="0" cy="0"/>
        </a:xfrm>
      </p:grpSpPr>
      <p:sp>
        <p:nvSpPr>
          <p:cNvPr id="32" name="Google Shape;32;p19"/>
          <p:cNvSpPr/>
          <p:nvPr/>
        </p:nvSpPr>
        <p:spPr>
          <a:xfrm>
            <a:off x="457200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3" name="Google Shape;33;p1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34" name="Google Shape;34;p19"/>
          <p:cNvSpPr txBox="1">
            <a:spLocks noGrp="1"/>
          </p:cNvSpPr>
          <p:nvPr>
            <p:ph type="title"/>
          </p:nvPr>
        </p:nvSpPr>
        <p:spPr>
          <a:xfrm>
            <a:off x="265500" y="1081400"/>
            <a:ext cx="4045200" cy="1710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5" name="Google Shape;35;p19"/>
          <p:cNvSpPr txBox="1">
            <a:spLocks noGrp="1"/>
          </p:cNvSpPr>
          <p:nvPr>
            <p:ph type="subTitle" idx="1"/>
          </p:nvPr>
        </p:nvSpPr>
        <p:spPr>
          <a:xfrm>
            <a:off x="265500" y="2845201"/>
            <a:ext cx="4045200" cy="13455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36" name="Google Shape;36;p19"/>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0"/>
              </a:spcBef>
              <a:spcAft>
                <a:spcPts val="0"/>
              </a:spcAft>
              <a:buClr>
                <a:schemeClr val="lt1"/>
              </a:buClr>
              <a:buSzPts val="1400"/>
              <a:buChar char="○"/>
              <a:defRPr>
                <a:solidFill>
                  <a:schemeClr val="lt1"/>
                </a:solidFill>
              </a:defRPr>
            </a:lvl2pPr>
            <a:lvl3pPr marL="1371600" lvl="2" indent="-317500" algn="l">
              <a:lnSpc>
                <a:spcPct val="115000"/>
              </a:lnSpc>
              <a:spcBef>
                <a:spcPts val="0"/>
              </a:spcBef>
              <a:spcAft>
                <a:spcPts val="0"/>
              </a:spcAft>
              <a:buClr>
                <a:schemeClr val="lt1"/>
              </a:buClr>
              <a:buSzPts val="1400"/>
              <a:buChar char="■"/>
              <a:defRPr>
                <a:solidFill>
                  <a:schemeClr val="lt1"/>
                </a:solidFill>
              </a:defRPr>
            </a:lvl3pPr>
            <a:lvl4pPr marL="1828800" lvl="3" indent="-317500" algn="l">
              <a:lnSpc>
                <a:spcPct val="115000"/>
              </a:lnSpc>
              <a:spcBef>
                <a:spcPts val="0"/>
              </a:spcBef>
              <a:spcAft>
                <a:spcPts val="0"/>
              </a:spcAft>
              <a:buClr>
                <a:schemeClr val="lt1"/>
              </a:buClr>
              <a:buSzPts val="1400"/>
              <a:buChar char="●"/>
              <a:defRPr>
                <a:solidFill>
                  <a:schemeClr val="lt1"/>
                </a:solidFill>
              </a:defRPr>
            </a:lvl4pPr>
            <a:lvl5pPr marL="2286000" lvl="4" indent="-317500" algn="l">
              <a:lnSpc>
                <a:spcPct val="115000"/>
              </a:lnSpc>
              <a:spcBef>
                <a:spcPts val="0"/>
              </a:spcBef>
              <a:spcAft>
                <a:spcPts val="0"/>
              </a:spcAft>
              <a:buClr>
                <a:schemeClr val="lt1"/>
              </a:buClr>
              <a:buSzPts val="1400"/>
              <a:buChar char="○"/>
              <a:defRPr>
                <a:solidFill>
                  <a:schemeClr val="lt1"/>
                </a:solidFill>
              </a:defRPr>
            </a:lvl5pPr>
            <a:lvl6pPr marL="2743200" lvl="5" indent="-317500" algn="l">
              <a:lnSpc>
                <a:spcPct val="115000"/>
              </a:lnSpc>
              <a:spcBef>
                <a:spcPts val="0"/>
              </a:spcBef>
              <a:spcAft>
                <a:spcPts val="0"/>
              </a:spcAft>
              <a:buClr>
                <a:schemeClr val="lt1"/>
              </a:buClr>
              <a:buSzPts val="1400"/>
              <a:buChar char="■"/>
              <a:defRPr>
                <a:solidFill>
                  <a:schemeClr val="lt1"/>
                </a:solidFill>
              </a:defRPr>
            </a:lvl6pPr>
            <a:lvl7pPr marL="3200400" lvl="6" indent="-317500" algn="l">
              <a:lnSpc>
                <a:spcPct val="115000"/>
              </a:lnSpc>
              <a:spcBef>
                <a:spcPts val="0"/>
              </a:spcBef>
              <a:spcAft>
                <a:spcPts val="0"/>
              </a:spcAft>
              <a:buClr>
                <a:schemeClr val="lt1"/>
              </a:buClr>
              <a:buSzPts val="1400"/>
              <a:buChar char="●"/>
              <a:defRPr>
                <a:solidFill>
                  <a:schemeClr val="lt1"/>
                </a:solidFill>
              </a:defRPr>
            </a:lvl7pPr>
            <a:lvl8pPr marL="3657600" lvl="7" indent="-317500" algn="l">
              <a:lnSpc>
                <a:spcPct val="115000"/>
              </a:lnSpc>
              <a:spcBef>
                <a:spcPts val="0"/>
              </a:spcBef>
              <a:spcAft>
                <a:spcPts val="0"/>
              </a:spcAft>
              <a:buClr>
                <a:schemeClr val="lt1"/>
              </a:buClr>
              <a:buSzPts val="1400"/>
              <a:buChar char="○"/>
              <a:defRPr>
                <a:solidFill>
                  <a:schemeClr val="lt1"/>
                </a:solidFill>
              </a:defRPr>
            </a:lvl8pPr>
            <a:lvl9pPr marL="4114800" lvl="8" indent="-317500" algn="l">
              <a:lnSpc>
                <a:spcPct val="115000"/>
              </a:lnSpc>
              <a:spcBef>
                <a:spcPts val="0"/>
              </a:spcBef>
              <a:spcAft>
                <a:spcPts val="0"/>
              </a:spcAft>
              <a:buClr>
                <a:schemeClr val="lt1"/>
              </a:buClr>
              <a:buSzPts val="1400"/>
              <a:buChar char="■"/>
              <a:defRPr>
                <a:solidFill>
                  <a:schemeClr val="lt1"/>
                </a:solidFill>
              </a:defRPr>
            </a:lvl9pPr>
          </a:lstStyle>
          <a:p>
            <a:endParaRPr/>
          </a:p>
        </p:txBody>
      </p:sp>
      <p:sp>
        <p:nvSpPr>
          <p:cNvPr id="37" name="Google Shape;37;p19"/>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8"/>
        <p:cNvGrpSpPr/>
        <p:nvPr/>
      </p:nvGrpSpPr>
      <p:grpSpPr>
        <a:xfrm>
          <a:off x="0" y="0"/>
          <a:ext cx="0" cy="0"/>
          <a:chOff x="0" y="0"/>
          <a:chExt cx="0" cy="0"/>
        </a:xfrm>
      </p:grpSpPr>
      <p:sp>
        <p:nvSpPr>
          <p:cNvPr id="39" name="Google Shape;39;p2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a:endParaRPr/>
          </a:p>
        </p:txBody>
      </p:sp>
      <p:sp>
        <p:nvSpPr>
          <p:cNvPr id="40" name="Google Shape;40;p20"/>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1"/>
        <p:cNvGrpSpPr/>
        <p:nvPr/>
      </p:nvGrpSpPr>
      <p:grpSpPr>
        <a:xfrm>
          <a:off x="0" y="0"/>
          <a:ext cx="0" cy="0"/>
          <a:chOff x="0" y="0"/>
          <a:chExt cx="0" cy="0"/>
        </a:xfrm>
      </p:grpSpPr>
      <p:sp>
        <p:nvSpPr>
          <p:cNvPr id="42" name="Google Shape;42;p21"/>
          <p:cNvSpPr txBox="1">
            <a:spLocks noGrp="1"/>
          </p:cNvSpPr>
          <p:nvPr>
            <p:ph type="title" hasCustomPrompt="1"/>
          </p:nvPr>
        </p:nvSpPr>
        <p:spPr>
          <a:xfrm>
            <a:off x="311700" y="1255275"/>
            <a:ext cx="8520600" cy="1890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3" name="Google Shape;43;p21"/>
          <p:cNvSpPr txBox="1">
            <a:spLocks noGrp="1"/>
          </p:cNvSpPr>
          <p:nvPr>
            <p:ph type="body" idx="1"/>
          </p:nvPr>
        </p:nvSpPr>
        <p:spPr>
          <a:xfrm>
            <a:off x="311700" y="32284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4" name="Google Shape;44;p21"/>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5"/>
        <p:cNvGrpSpPr/>
        <p:nvPr/>
      </p:nvGrpSpPr>
      <p:grpSpPr>
        <a:xfrm>
          <a:off x="0" y="0"/>
          <a:ext cx="0" cy="0"/>
          <a:chOff x="0" y="0"/>
          <a:chExt cx="0" cy="0"/>
        </a:xfrm>
      </p:grpSpPr>
      <p:sp>
        <p:nvSpPr>
          <p:cNvPr id="46" name="Google Shape;46;p22"/>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ate">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1pPr>
            <a:lvl2pPr marR="0" lvl="1" algn="l" rtl="0">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2pPr>
            <a:lvl3pPr marR="0" lvl="2" algn="l" rtl="0">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3pPr>
            <a:lvl4pPr marR="0" lvl="3" algn="l" rtl="0">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4pPr>
            <a:lvl5pPr marR="0" lvl="4" algn="l" rtl="0">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5pPr>
            <a:lvl6pPr marR="0" lvl="5" algn="l" rtl="0">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6pPr>
            <a:lvl7pPr marR="0" lvl="6" algn="l" rtl="0">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7pPr>
            <a:lvl8pPr marR="0" lvl="7" algn="l" rtl="0">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8pPr>
            <a:lvl9pPr marR="0" lvl="8" algn="l" rtl="0">
              <a:lnSpc>
                <a:spcPct val="100000"/>
              </a:lnSpc>
              <a:spcBef>
                <a:spcPts val="0"/>
              </a:spcBef>
              <a:spcAft>
                <a:spcPts val="0"/>
              </a:spcAft>
              <a:buClr>
                <a:schemeClr val="dk1"/>
              </a:buClr>
              <a:buSzPts val="3000"/>
              <a:buFont typeface="Oswald"/>
              <a:buNone/>
              <a:defRPr sz="3000" b="0" i="0" u="none" strike="noStrike" cap="none">
                <a:solidFill>
                  <a:schemeClr val="dk1"/>
                </a:solidFill>
                <a:latin typeface="Oswald"/>
                <a:ea typeface="Oswald"/>
                <a:cs typeface="Oswald"/>
                <a:sym typeface="Oswald"/>
              </a:defRPr>
            </a:lvl9pPr>
          </a:lstStyle>
          <a:p>
            <a:endParaRPr/>
          </a:p>
        </p:txBody>
      </p:sp>
      <p:sp>
        <p:nvSpPr>
          <p:cNvPr id="7" name="Google Shape;7;p1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accent3"/>
              </a:buClr>
              <a:buSzPts val="1800"/>
              <a:buFont typeface="Average"/>
              <a:buChar char="●"/>
              <a:defRPr sz="1800" b="0" i="0" u="none" strike="noStrike" cap="none">
                <a:solidFill>
                  <a:schemeClr val="accent3"/>
                </a:solidFill>
                <a:latin typeface="Average"/>
                <a:ea typeface="Average"/>
                <a:cs typeface="Average"/>
                <a:sym typeface="Average"/>
              </a:defRPr>
            </a:lvl1pPr>
            <a:lvl2pPr marL="914400" marR="0" lvl="1" indent="-317500" algn="l" rtl="0">
              <a:lnSpc>
                <a:spcPct val="115000"/>
              </a:lnSpc>
              <a:spcBef>
                <a:spcPts val="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2pPr>
            <a:lvl3pPr marL="1371600" marR="0" lvl="2" indent="-317500" algn="l" rtl="0">
              <a:lnSpc>
                <a:spcPct val="115000"/>
              </a:lnSpc>
              <a:spcBef>
                <a:spcPts val="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3pPr>
            <a:lvl4pPr marL="1828800" marR="0" lvl="3" indent="-317500" algn="l" rtl="0">
              <a:lnSpc>
                <a:spcPct val="115000"/>
              </a:lnSpc>
              <a:spcBef>
                <a:spcPts val="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4pPr>
            <a:lvl5pPr marL="2286000" marR="0" lvl="4" indent="-317500" algn="l" rtl="0">
              <a:lnSpc>
                <a:spcPct val="115000"/>
              </a:lnSpc>
              <a:spcBef>
                <a:spcPts val="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5pPr>
            <a:lvl6pPr marL="2743200" marR="0" lvl="5" indent="-317500" algn="l" rtl="0">
              <a:lnSpc>
                <a:spcPct val="115000"/>
              </a:lnSpc>
              <a:spcBef>
                <a:spcPts val="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6pPr>
            <a:lvl7pPr marL="3200400" marR="0" lvl="6" indent="-317500" algn="l" rtl="0">
              <a:lnSpc>
                <a:spcPct val="115000"/>
              </a:lnSpc>
              <a:spcBef>
                <a:spcPts val="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7pPr>
            <a:lvl8pPr marL="3657600" marR="0" lvl="7" indent="-317500" algn="l" rtl="0">
              <a:lnSpc>
                <a:spcPct val="115000"/>
              </a:lnSpc>
              <a:spcBef>
                <a:spcPts val="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8pPr>
            <a:lvl9pPr marL="4114800" marR="0" lvl="8" indent="-317500" algn="l" rtl="0">
              <a:lnSpc>
                <a:spcPct val="115000"/>
              </a:lnSpc>
              <a:spcBef>
                <a:spcPts val="0"/>
              </a:spcBef>
              <a:spcAft>
                <a:spcPts val="0"/>
              </a:spcAft>
              <a:buClr>
                <a:schemeClr val="accent3"/>
              </a:buClr>
              <a:buSzPts val="1400"/>
              <a:buFont typeface="Average"/>
              <a:buChar char="■"/>
              <a:defRPr sz="1400" b="0" i="0" u="none" strike="noStrike" cap="none">
                <a:solidFill>
                  <a:schemeClr val="accent3"/>
                </a:solidFill>
                <a:latin typeface="Average"/>
                <a:ea typeface="Average"/>
                <a:cs typeface="Average"/>
                <a:sym typeface="Average"/>
              </a:defRPr>
            </a:lvl9pPr>
          </a:lstStyle>
          <a:p>
            <a:endParaRPr/>
          </a:p>
        </p:txBody>
      </p:sp>
      <p:sp>
        <p:nvSpPr>
          <p:cNvPr id="8" name="Google Shape;8;p12"/>
          <p:cNvSpPr txBox="1">
            <a:spLocks noGrp="1"/>
          </p:cNvSpPr>
          <p:nvPr>
            <p:ph type="sldNum" idx="12"/>
          </p:nvPr>
        </p:nvSpPr>
        <p:spPr>
          <a:xfrm>
            <a:off x="8490250" y="4681009"/>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accent3"/>
                </a:solidFill>
                <a:latin typeface="Average"/>
                <a:ea typeface="Average"/>
                <a:cs typeface="Average"/>
                <a:sym typeface="Average"/>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grpSp>
        <p:nvGrpSpPr>
          <p:cNvPr id="51" name="Google Shape;51;p1"/>
          <p:cNvGrpSpPr/>
          <p:nvPr/>
        </p:nvGrpSpPr>
        <p:grpSpPr>
          <a:xfrm>
            <a:off x="0" y="0"/>
            <a:ext cx="9143999" cy="5143500"/>
            <a:chOff x="0" y="0"/>
            <a:chExt cx="9143999" cy="5143500"/>
          </a:xfrm>
        </p:grpSpPr>
        <p:pic>
          <p:nvPicPr>
            <p:cNvPr id="52" name="Google Shape;52;p1"/>
            <p:cNvPicPr preferRelativeResize="0"/>
            <p:nvPr/>
          </p:nvPicPr>
          <p:blipFill rotWithShape="1">
            <a:blip r:embed="rId3">
              <a:alphaModFix/>
            </a:blip>
            <a:srcRect/>
            <a:stretch/>
          </p:blipFill>
          <p:spPr>
            <a:xfrm>
              <a:off x="0" y="0"/>
              <a:ext cx="9143999" cy="5143500"/>
            </a:xfrm>
            <a:prstGeom prst="rect">
              <a:avLst/>
            </a:prstGeom>
            <a:noFill/>
            <a:ln>
              <a:noFill/>
            </a:ln>
          </p:spPr>
        </p:pic>
        <p:sp>
          <p:nvSpPr>
            <p:cNvPr id="53" name="Google Shape;53;p1"/>
            <p:cNvSpPr txBox="1"/>
            <p:nvPr/>
          </p:nvSpPr>
          <p:spPr>
            <a:xfrm>
              <a:off x="810321" y="1376789"/>
              <a:ext cx="7523356" cy="7078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GB" sz="4000" b="0" i="0" u="none" strike="noStrike" cap="none">
                  <a:solidFill>
                    <a:schemeClr val="dk1"/>
                  </a:solidFill>
                  <a:latin typeface="Times New Roman"/>
                  <a:ea typeface="Times New Roman"/>
                  <a:cs typeface="Times New Roman"/>
                  <a:sym typeface="Times New Roman"/>
                </a:rPr>
                <a:t>CITIZEN PROCESSING SYSTEM</a:t>
              </a:r>
              <a:endParaRPr sz="4000" b="0" i="0" u="none" strike="noStrike" cap="none">
                <a:solidFill>
                  <a:schemeClr val="dk1"/>
                </a:solidFill>
                <a:latin typeface="Arial"/>
                <a:ea typeface="Arial"/>
                <a:cs typeface="Arial"/>
                <a:sym typeface="Arial"/>
              </a:endParaRPr>
            </a:p>
          </p:txBody>
        </p:sp>
        <p:sp>
          <p:nvSpPr>
            <p:cNvPr id="54" name="Google Shape;54;p1"/>
            <p:cNvSpPr txBox="1"/>
            <p:nvPr/>
          </p:nvSpPr>
          <p:spPr>
            <a:xfrm>
              <a:off x="5713303" y="3321200"/>
              <a:ext cx="3244800" cy="1181400"/>
            </a:xfrm>
            <a:prstGeom prst="rect">
              <a:avLst/>
            </a:prstGeom>
            <a:noFill/>
            <a:ln>
              <a:noFill/>
            </a:ln>
          </p:spPr>
          <p:txBody>
            <a:bodyPr spcFirstLastPara="1" wrap="square" lIns="91425" tIns="91425" rIns="91425" bIns="91425" anchor="t" anchorCtr="0">
              <a:noAutofit/>
            </a:bodyPr>
            <a:lstStyle/>
            <a:p>
              <a:pPr marL="0" marR="0" lvl="0" indent="0" algn="ctr" rtl="0">
                <a:lnSpc>
                  <a:spcPct val="115000"/>
                </a:lnSpc>
                <a:spcBef>
                  <a:spcPts val="0"/>
                </a:spcBef>
                <a:spcAft>
                  <a:spcPts val="0"/>
                </a:spcAft>
                <a:buClr>
                  <a:schemeClr val="accent3"/>
                </a:buClr>
                <a:buSzPts val="1800"/>
                <a:buFont typeface="Average"/>
                <a:buNone/>
              </a:pPr>
              <a:r>
                <a:rPr lang="en-GB" sz="2700" b="0" i="0" u="none" strike="noStrike" cap="none">
                  <a:solidFill>
                    <a:schemeClr val="accent3"/>
                  </a:solidFill>
                  <a:latin typeface="Times New Roman"/>
                  <a:ea typeface="Times New Roman"/>
                  <a:cs typeface="Times New Roman"/>
                  <a:sym typeface="Times New Roman"/>
                </a:rPr>
                <a:t>Presented by:</a:t>
              </a:r>
              <a:endParaRPr sz="2700"/>
            </a:p>
            <a:p>
              <a:pPr marL="0" marR="0" lvl="0" indent="0" algn="ctr" rtl="0">
                <a:lnSpc>
                  <a:spcPct val="115000"/>
                </a:lnSpc>
                <a:spcBef>
                  <a:spcPts val="0"/>
                </a:spcBef>
                <a:spcAft>
                  <a:spcPts val="0"/>
                </a:spcAft>
                <a:buClr>
                  <a:schemeClr val="accent3"/>
                </a:buClr>
                <a:buSzPts val="1800"/>
                <a:buFont typeface="Average"/>
                <a:buNone/>
              </a:pPr>
              <a:r>
                <a:rPr lang="en-GB" sz="2700">
                  <a:solidFill>
                    <a:schemeClr val="accent3"/>
                  </a:solidFill>
                  <a:latin typeface="Times New Roman"/>
                  <a:ea typeface="Times New Roman"/>
                  <a:cs typeface="Times New Roman"/>
                  <a:sym typeface="Times New Roman"/>
                </a:rPr>
                <a:t>Quantum Quirk</a:t>
              </a:r>
              <a:endParaRPr sz="270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2"/>
          <p:cNvSpPr txBox="1">
            <a:spLocks noGrp="1"/>
          </p:cNvSpPr>
          <p:nvPr>
            <p:ph type="title"/>
          </p:nvPr>
        </p:nvSpPr>
        <p:spPr>
          <a:xfrm>
            <a:off x="665500" y="575500"/>
            <a:ext cx="8166900" cy="6249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latin typeface="Times New Roman"/>
                <a:ea typeface="Times New Roman"/>
                <a:cs typeface="Times New Roman"/>
                <a:sym typeface="Times New Roman"/>
              </a:rPr>
              <a:t>Problem Statement</a:t>
            </a:r>
            <a:endParaRPr>
              <a:latin typeface="Times New Roman"/>
              <a:ea typeface="Times New Roman"/>
              <a:cs typeface="Times New Roman"/>
              <a:sym typeface="Times New Roman"/>
            </a:endParaRPr>
          </a:p>
        </p:txBody>
      </p:sp>
      <p:sp>
        <p:nvSpPr>
          <p:cNvPr id="60" name="Google Shape;60;p2"/>
          <p:cNvSpPr txBox="1">
            <a:spLocks noGrp="1"/>
          </p:cNvSpPr>
          <p:nvPr>
            <p:ph type="body" idx="1"/>
          </p:nvPr>
        </p:nvSpPr>
        <p:spPr>
          <a:xfrm>
            <a:off x="665500" y="1439750"/>
            <a:ext cx="7742400" cy="3129000"/>
          </a:xfrm>
          <a:prstGeom prst="rect">
            <a:avLst/>
          </a:prstGeom>
          <a:solidFill>
            <a:schemeClr val="lt1"/>
          </a:solidFill>
          <a:ln>
            <a:noFill/>
          </a:ln>
        </p:spPr>
        <p:txBody>
          <a:bodyPr spcFirstLastPara="1" wrap="square" lIns="91425" tIns="91425" rIns="91425" bIns="91425" anchor="t" anchorCtr="0">
            <a:normAutofit/>
          </a:bodyPr>
          <a:lstStyle/>
          <a:p>
            <a:pPr marL="0" lvl="0" indent="0" algn="just" rtl="0">
              <a:lnSpc>
                <a:spcPct val="150000"/>
              </a:lnSpc>
              <a:spcBef>
                <a:spcPts val="0"/>
              </a:spcBef>
              <a:spcAft>
                <a:spcPts val="1200"/>
              </a:spcAft>
              <a:buSzPts val="1800"/>
              <a:buNone/>
            </a:pPr>
            <a:r>
              <a:rPr lang="en-GB" sz="1500">
                <a:solidFill>
                  <a:schemeClr val="dk1"/>
                </a:solidFill>
                <a:latin typeface="Times New Roman"/>
                <a:ea typeface="Times New Roman"/>
                <a:cs typeface="Times New Roman"/>
                <a:sym typeface="Times New Roman"/>
              </a:rPr>
              <a:t>Citizens notice potholes, broken streetlights, and water leaks around Hyderabad. However, they have no simple way to report these issues to city authorities. City workers cannot view all complaints sorted by area or type, so they are unsure about which problems require urgent attention. Additionally, no one can monitor whether reported issues are actually resolved.</a:t>
            </a:r>
            <a:endParaRPr sz="21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3"/>
          <p:cNvSpPr txBox="1">
            <a:spLocks noGrp="1"/>
          </p:cNvSpPr>
          <p:nvPr>
            <p:ph type="title"/>
          </p:nvPr>
        </p:nvSpPr>
        <p:spPr>
          <a:xfrm>
            <a:off x="665500" y="575500"/>
            <a:ext cx="8166900" cy="6249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3000"/>
              <a:buNone/>
            </a:pPr>
            <a:r>
              <a:rPr lang="en-GB" sz="2700">
                <a:latin typeface="Times New Roman"/>
                <a:ea typeface="Times New Roman"/>
                <a:cs typeface="Times New Roman"/>
                <a:sym typeface="Times New Roman"/>
              </a:rPr>
              <a:t>Proposed Solution</a:t>
            </a:r>
            <a:endParaRPr>
              <a:latin typeface="Times New Roman"/>
              <a:ea typeface="Times New Roman"/>
              <a:cs typeface="Times New Roman"/>
              <a:sym typeface="Times New Roman"/>
            </a:endParaRPr>
          </a:p>
        </p:txBody>
      </p:sp>
      <p:sp>
        <p:nvSpPr>
          <p:cNvPr id="66" name="Google Shape;66;p3"/>
          <p:cNvSpPr txBox="1">
            <a:spLocks noGrp="1"/>
          </p:cNvSpPr>
          <p:nvPr>
            <p:ph type="body" idx="1"/>
          </p:nvPr>
        </p:nvSpPr>
        <p:spPr>
          <a:xfrm>
            <a:off x="665500" y="1439750"/>
            <a:ext cx="7742400" cy="3129000"/>
          </a:xfrm>
          <a:prstGeom prst="rect">
            <a:avLst/>
          </a:prstGeom>
          <a:solidFill>
            <a:schemeClr val="lt1"/>
          </a:solidFill>
          <a:ln>
            <a:noFill/>
          </a:ln>
        </p:spPr>
        <p:txBody>
          <a:bodyPr spcFirstLastPara="1" wrap="square" lIns="91425" tIns="91425" rIns="91425" bIns="91425" anchor="t" anchorCtr="0">
            <a:normAutofit/>
          </a:bodyPr>
          <a:lstStyle/>
          <a:p>
            <a:pPr marL="0" lvl="0" indent="0" algn="just" rtl="0">
              <a:lnSpc>
                <a:spcPct val="150000"/>
              </a:lnSpc>
              <a:spcBef>
                <a:spcPts val="0"/>
              </a:spcBef>
              <a:spcAft>
                <a:spcPts val="1200"/>
              </a:spcAft>
              <a:buSzPts val="1800"/>
              <a:buNone/>
            </a:pPr>
            <a:r>
              <a:rPr lang="en-GB" sz="1500">
                <a:solidFill>
                  <a:schemeClr val="dk1"/>
                </a:solidFill>
                <a:latin typeface="Times New Roman"/>
                <a:ea typeface="Times New Roman"/>
                <a:cs typeface="Times New Roman"/>
                <a:sym typeface="Times New Roman"/>
              </a:rPr>
              <a:t>We built a web backend that allows citizens to report potholes and water leaks using apps or WhatsApp. The system sorts complaints by category and status. City workers can see urgent issues and update them from open to resolved. It is made with Python Flask and SQLite, and it is available for free on render.com for round-the-clock access.</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4"/>
          <p:cNvSpPr txBox="1">
            <a:spLocks noGrp="1"/>
          </p:cNvSpPr>
          <p:nvPr>
            <p:ph type="title"/>
          </p:nvPr>
        </p:nvSpPr>
        <p:spPr>
          <a:xfrm>
            <a:off x="665500" y="575500"/>
            <a:ext cx="8166900" cy="6249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latin typeface="Times New Roman"/>
                <a:ea typeface="Times New Roman"/>
                <a:cs typeface="Times New Roman"/>
                <a:sym typeface="Times New Roman"/>
              </a:rPr>
              <a:t>Objectives</a:t>
            </a:r>
            <a:endParaRPr>
              <a:latin typeface="Times New Roman"/>
              <a:ea typeface="Times New Roman"/>
              <a:cs typeface="Times New Roman"/>
              <a:sym typeface="Times New Roman"/>
            </a:endParaRPr>
          </a:p>
        </p:txBody>
      </p:sp>
      <p:sp>
        <p:nvSpPr>
          <p:cNvPr id="72" name="Google Shape;72;p4"/>
          <p:cNvSpPr txBox="1">
            <a:spLocks noGrp="1"/>
          </p:cNvSpPr>
          <p:nvPr>
            <p:ph type="body" idx="1"/>
          </p:nvPr>
        </p:nvSpPr>
        <p:spPr>
          <a:xfrm>
            <a:off x="665500" y="1439750"/>
            <a:ext cx="7742400" cy="3129000"/>
          </a:xfrm>
          <a:prstGeom prst="rect">
            <a:avLst/>
          </a:prstGeom>
          <a:solidFill>
            <a:schemeClr val="lt1"/>
          </a:solidFill>
          <a:ln>
            <a:noFill/>
          </a:ln>
        </p:spPr>
        <p:txBody>
          <a:bodyPr spcFirstLastPara="1" wrap="square" lIns="91425" tIns="91425" rIns="91425" bIns="91425" anchor="t" anchorCtr="0">
            <a:noAutofit/>
          </a:bodyPr>
          <a:lstStyle/>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Enable citizens to easily report city issues through mobile apps, WhatsApp, or SMS.</a:t>
            </a:r>
            <a:endParaRPr sz="1500">
              <a:solidFill>
                <a:schemeClr val="dk1"/>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Organize complaints by category, such as potholes, water leaks, and street lights, as well as by location.</a:t>
            </a:r>
            <a:endParaRPr sz="1500">
              <a:solidFill>
                <a:schemeClr val="dk1"/>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Allow city workers to filter and view urgent open issues.</a:t>
            </a:r>
            <a:endParaRPr sz="1500">
              <a:solidFill>
                <a:schemeClr val="dk1"/>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Track the status of issues from "open" to "resolved" with timestamps.</a:t>
            </a:r>
            <a:endParaRPr sz="1500">
              <a:solidFill>
                <a:schemeClr val="dk1"/>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Deploy a free system that is always online and accessible 24/7.</a:t>
            </a:r>
            <a:endParaRPr sz="1500">
              <a:solidFill>
                <a:schemeClr val="dk1"/>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Create analytics that show fix times and the distribution of issues.</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5"/>
          <p:cNvSpPr txBox="1">
            <a:spLocks noGrp="1"/>
          </p:cNvSpPr>
          <p:nvPr>
            <p:ph type="title"/>
          </p:nvPr>
        </p:nvSpPr>
        <p:spPr>
          <a:xfrm>
            <a:off x="665500" y="358025"/>
            <a:ext cx="8166900" cy="6249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latin typeface="Times New Roman"/>
                <a:ea typeface="Times New Roman"/>
                <a:cs typeface="Times New Roman"/>
                <a:sym typeface="Times New Roman"/>
              </a:rPr>
              <a:t>System Architecture</a:t>
            </a:r>
            <a:endParaRPr>
              <a:latin typeface="Times New Roman"/>
              <a:ea typeface="Times New Roman"/>
              <a:cs typeface="Times New Roman"/>
              <a:sym typeface="Times New Roman"/>
            </a:endParaRPr>
          </a:p>
        </p:txBody>
      </p:sp>
      <p:pic>
        <p:nvPicPr>
          <p:cNvPr id="78" name="Google Shape;78;p5"/>
          <p:cNvPicPr preferRelativeResize="0"/>
          <p:nvPr/>
        </p:nvPicPr>
        <p:blipFill rotWithShape="1">
          <a:blip r:embed="rId3">
            <a:alphaModFix/>
          </a:blip>
          <a:srcRect t="11402"/>
          <a:stretch/>
        </p:blipFill>
        <p:spPr>
          <a:xfrm>
            <a:off x="488550" y="1048275"/>
            <a:ext cx="8166900" cy="372327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6"/>
          <p:cNvSpPr txBox="1">
            <a:spLocks noGrp="1"/>
          </p:cNvSpPr>
          <p:nvPr>
            <p:ph type="title"/>
          </p:nvPr>
        </p:nvSpPr>
        <p:spPr>
          <a:xfrm>
            <a:off x="665500" y="343175"/>
            <a:ext cx="8166900" cy="6249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latin typeface="Times New Roman"/>
                <a:ea typeface="Times New Roman"/>
                <a:cs typeface="Times New Roman"/>
                <a:sym typeface="Times New Roman"/>
              </a:rPr>
              <a:t>Technical Workflow</a:t>
            </a:r>
            <a:endParaRPr>
              <a:latin typeface="Times New Roman"/>
              <a:ea typeface="Times New Roman"/>
              <a:cs typeface="Times New Roman"/>
              <a:sym typeface="Times New Roman"/>
            </a:endParaRPr>
          </a:p>
        </p:txBody>
      </p:sp>
      <p:pic>
        <p:nvPicPr>
          <p:cNvPr id="84" name="Google Shape;84;p6"/>
          <p:cNvPicPr preferRelativeResize="0"/>
          <p:nvPr/>
        </p:nvPicPr>
        <p:blipFill rotWithShape="1">
          <a:blip r:embed="rId3">
            <a:alphaModFix/>
          </a:blip>
          <a:srcRect l="10033" t="8784" r="12549"/>
          <a:stretch/>
        </p:blipFill>
        <p:spPr>
          <a:xfrm>
            <a:off x="1575100" y="994838"/>
            <a:ext cx="5993798" cy="1259750"/>
          </a:xfrm>
          <a:prstGeom prst="rect">
            <a:avLst/>
          </a:prstGeom>
          <a:noFill/>
          <a:ln>
            <a:noFill/>
          </a:ln>
        </p:spPr>
      </p:pic>
      <p:sp>
        <p:nvSpPr>
          <p:cNvPr id="85" name="Google Shape;85;p6"/>
          <p:cNvSpPr txBox="1"/>
          <p:nvPr/>
        </p:nvSpPr>
        <p:spPr>
          <a:xfrm>
            <a:off x="700800" y="2409125"/>
            <a:ext cx="7742400" cy="2147100"/>
          </a:xfrm>
          <a:prstGeom prst="rect">
            <a:avLst/>
          </a:prstGeom>
          <a:noFill/>
          <a:ln>
            <a:noFill/>
          </a:ln>
        </p:spPr>
        <p:txBody>
          <a:bodyPr spcFirstLastPara="1" wrap="square" lIns="91425" tIns="91425" rIns="91425" bIns="91425" anchor="t" anchorCtr="0">
            <a:spAutoFit/>
          </a:bodyPr>
          <a:lstStyle/>
          <a:p>
            <a:pPr marL="457200" marR="0" lvl="0" indent="-323850" algn="l" rtl="0">
              <a:lnSpc>
                <a:spcPct val="150000"/>
              </a:lnSpc>
              <a:spcBef>
                <a:spcPts val="0"/>
              </a:spcBef>
              <a:spcAft>
                <a:spcPts val="0"/>
              </a:spcAft>
              <a:buClr>
                <a:schemeClr val="dk1"/>
              </a:buClr>
              <a:buSzPts val="1500"/>
              <a:buFont typeface="Times New Roman"/>
              <a:buChar char="●"/>
            </a:pPr>
            <a:r>
              <a:rPr lang="en-GB" sz="1500" b="0" i="0" u="none" strike="noStrike" cap="none">
                <a:solidFill>
                  <a:schemeClr val="dk1"/>
                </a:solidFill>
                <a:latin typeface="Times New Roman"/>
                <a:ea typeface="Times New Roman"/>
                <a:cs typeface="Times New Roman"/>
                <a:sym typeface="Times New Roman"/>
              </a:rPr>
              <a:t>Citizen reports the issue through Mobile or Web. The report includes a description, category, GPS location, and media.</a:t>
            </a:r>
            <a:endParaRPr sz="1500" b="0" i="0" u="none" strike="noStrike" cap="none">
              <a:solidFill>
                <a:schemeClr val="dk1"/>
              </a:solidFill>
              <a:latin typeface="Times New Roman"/>
              <a:ea typeface="Times New Roman"/>
              <a:cs typeface="Times New Roman"/>
              <a:sym typeface="Times New Roman"/>
            </a:endParaRPr>
          </a:p>
          <a:p>
            <a:pPr marL="457200" marR="0" lvl="0" indent="-323850" algn="l" rtl="0">
              <a:lnSpc>
                <a:spcPct val="150000"/>
              </a:lnSpc>
              <a:spcBef>
                <a:spcPts val="0"/>
              </a:spcBef>
              <a:spcAft>
                <a:spcPts val="0"/>
              </a:spcAft>
              <a:buClr>
                <a:schemeClr val="dk1"/>
              </a:buClr>
              <a:buSzPts val="1500"/>
              <a:buFont typeface="Times New Roman"/>
              <a:buChar char="●"/>
            </a:pPr>
            <a:r>
              <a:rPr lang="en-GB" sz="1500" b="0" i="0" u="none" strike="noStrike" cap="none">
                <a:solidFill>
                  <a:schemeClr val="dk1"/>
                </a:solidFill>
                <a:latin typeface="Times New Roman"/>
                <a:ea typeface="Times New Roman"/>
                <a:cs typeface="Times New Roman"/>
                <a:sym typeface="Times New Roman"/>
              </a:rPr>
              <a:t>The backend checks the details and creates an Issue ID.</a:t>
            </a:r>
            <a:endParaRPr sz="1500" b="0" i="0" u="none" strike="noStrike" cap="none">
              <a:solidFill>
                <a:schemeClr val="dk1"/>
              </a:solidFill>
              <a:latin typeface="Times New Roman"/>
              <a:ea typeface="Times New Roman"/>
              <a:cs typeface="Times New Roman"/>
              <a:sym typeface="Times New Roman"/>
            </a:endParaRPr>
          </a:p>
          <a:p>
            <a:pPr marL="457200" marR="0" lvl="0" indent="-323850" algn="l" rtl="0">
              <a:lnSpc>
                <a:spcPct val="150000"/>
              </a:lnSpc>
              <a:spcBef>
                <a:spcPts val="0"/>
              </a:spcBef>
              <a:spcAft>
                <a:spcPts val="0"/>
              </a:spcAft>
              <a:buClr>
                <a:schemeClr val="dk1"/>
              </a:buClr>
              <a:buSzPts val="1500"/>
              <a:buFont typeface="Times New Roman"/>
              <a:buChar char="●"/>
            </a:pPr>
            <a:r>
              <a:rPr lang="en-GB" sz="1500" b="0" i="0" u="none" strike="noStrike" cap="none">
                <a:solidFill>
                  <a:schemeClr val="dk1"/>
                </a:solidFill>
                <a:latin typeface="Times New Roman"/>
                <a:ea typeface="Times New Roman"/>
                <a:cs typeface="Times New Roman"/>
                <a:sym typeface="Times New Roman"/>
              </a:rPr>
              <a:t>The system automatically sends the issue to the right department.</a:t>
            </a:r>
            <a:endParaRPr sz="1500" b="0" i="0" u="none" strike="noStrike" cap="none">
              <a:solidFill>
                <a:schemeClr val="dk1"/>
              </a:solidFill>
              <a:latin typeface="Times New Roman"/>
              <a:ea typeface="Times New Roman"/>
              <a:cs typeface="Times New Roman"/>
              <a:sym typeface="Times New Roman"/>
            </a:endParaRPr>
          </a:p>
          <a:p>
            <a:pPr marL="457200" marR="0" lvl="0" indent="-323850" algn="l" rtl="0">
              <a:lnSpc>
                <a:spcPct val="150000"/>
              </a:lnSpc>
              <a:spcBef>
                <a:spcPts val="0"/>
              </a:spcBef>
              <a:spcAft>
                <a:spcPts val="0"/>
              </a:spcAft>
              <a:buClr>
                <a:schemeClr val="dk1"/>
              </a:buClr>
              <a:buSzPts val="1500"/>
              <a:buFont typeface="Times New Roman"/>
              <a:buChar char="●"/>
            </a:pPr>
            <a:r>
              <a:rPr lang="en-GB" sz="1500" b="0" i="0" u="none" strike="noStrike" cap="none">
                <a:solidFill>
                  <a:schemeClr val="dk1"/>
                </a:solidFill>
                <a:latin typeface="Times New Roman"/>
                <a:ea typeface="Times New Roman"/>
                <a:cs typeface="Times New Roman"/>
                <a:sym typeface="Times New Roman"/>
              </a:rPr>
              <a:t>A technician fixes the issue and updates the status from Assigned to Resolved.</a:t>
            </a:r>
            <a:endParaRPr sz="1500" b="0" i="0" u="none" strike="noStrike" cap="none">
              <a:solidFill>
                <a:schemeClr val="dk1"/>
              </a:solidFill>
              <a:latin typeface="Times New Roman"/>
              <a:ea typeface="Times New Roman"/>
              <a:cs typeface="Times New Roman"/>
              <a:sym typeface="Times New Roman"/>
            </a:endParaRPr>
          </a:p>
          <a:p>
            <a:pPr marL="457200" marR="0" lvl="0" indent="-323850" algn="l" rtl="0">
              <a:lnSpc>
                <a:spcPct val="150000"/>
              </a:lnSpc>
              <a:spcBef>
                <a:spcPts val="0"/>
              </a:spcBef>
              <a:spcAft>
                <a:spcPts val="0"/>
              </a:spcAft>
              <a:buClr>
                <a:schemeClr val="dk1"/>
              </a:buClr>
              <a:buSzPts val="1500"/>
              <a:buFont typeface="Times New Roman"/>
              <a:buChar char="●"/>
            </a:pPr>
            <a:r>
              <a:rPr lang="en-GB" sz="1500" b="0" i="0" u="none" strike="noStrike" cap="none">
                <a:solidFill>
                  <a:schemeClr val="dk1"/>
                </a:solidFill>
                <a:latin typeface="Times New Roman"/>
                <a:ea typeface="Times New Roman"/>
                <a:cs typeface="Times New Roman"/>
                <a:sym typeface="Times New Roman"/>
              </a:rPr>
              <a:t>The citizen gets real-time updates.</a:t>
            </a:r>
            <a:endParaRPr sz="15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7"/>
          <p:cNvSpPr txBox="1">
            <a:spLocks noGrp="1"/>
          </p:cNvSpPr>
          <p:nvPr>
            <p:ph type="title"/>
          </p:nvPr>
        </p:nvSpPr>
        <p:spPr>
          <a:xfrm>
            <a:off x="665500" y="575500"/>
            <a:ext cx="8166900" cy="6249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latin typeface="Times New Roman"/>
                <a:ea typeface="Times New Roman"/>
                <a:cs typeface="Times New Roman"/>
                <a:sym typeface="Times New Roman"/>
              </a:rPr>
              <a:t>Features</a:t>
            </a:r>
            <a:endParaRPr>
              <a:latin typeface="Times New Roman"/>
              <a:ea typeface="Times New Roman"/>
              <a:cs typeface="Times New Roman"/>
              <a:sym typeface="Times New Roman"/>
            </a:endParaRPr>
          </a:p>
        </p:txBody>
      </p:sp>
      <p:sp>
        <p:nvSpPr>
          <p:cNvPr id="91" name="Google Shape;91;p7"/>
          <p:cNvSpPr txBox="1">
            <a:spLocks noGrp="1"/>
          </p:cNvSpPr>
          <p:nvPr>
            <p:ph type="body" idx="1"/>
          </p:nvPr>
        </p:nvSpPr>
        <p:spPr>
          <a:xfrm>
            <a:off x="665500" y="1439750"/>
            <a:ext cx="7742400" cy="3129000"/>
          </a:xfrm>
          <a:prstGeom prst="rect">
            <a:avLst/>
          </a:prstGeom>
          <a:solidFill>
            <a:schemeClr val="lt1"/>
          </a:solidFill>
          <a:ln>
            <a:noFill/>
          </a:ln>
        </p:spPr>
        <p:txBody>
          <a:bodyPr spcFirstLastPara="1" wrap="square" lIns="91425" tIns="91425" rIns="91425" bIns="91425" anchor="t" anchorCtr="0">
            <a:noAutofit/>
          </a:bodyPr>
          <a:lstStyle/>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Citizen reporting through apps, WhatsApp, and SMS  </a:t>
            </a:r>
            <a:endParaRPr sz="1500">
              <a:solidFill>
                <a:schemeClr val="dk1"/>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Organized by category: Pothole, Water Leak, Street Light  </a:t>
            </a:r>
            <a:endParaRPr sz="1500">
              <a:solidFill>
                <a:schemeClr val="dk1"/>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Status tracking: Open, Resolved  </a:t>
            </a:r>
            <a:endParaRPr sz="1500">
              <a:solidFill>
                <a:schemeClr val="dk1"/>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Filter by status or category: ?status=open  </a:t>
            </a:r>
            <a:endParaRPr sz="1500">
              <a:solidFill>
                <a:schemeClr val="dk1"/>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REST API: POST, GET, PATCH  </a:t>
            </a:r>
            <a:endParaRPr sz="1500">
              <a:solidFill>
                <a:schemeClr val="dk1"/>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24/7 deployment on render.com  </a:t>
            </a:r>
            <a:endParaRPr sz="1500">
              <a:solidFill>
                <a:schemeClr val="dk1"/>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Mobile app provides JSON responses  </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8"/>
          <p:cNvSpPr txBox="1">
            <a:spLocks noGrp="1"/>
          </p:cNvSpPr>
          <p:nvPr>
            <p:ph type="title"/>
          </p:nvPr>
        </p:nvSpPr>
        <p:spPr>
          <a:xfrm>
            <a:off x="665500" y="575500"/>
            <a:ext cx="8166900" cy="6249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latin typeface="Times New Roman"/>
                <a:ea typeface="Times New Roman"/>
                <a:cs typeface="Times New Roman"/>
                <a:sym typeface="Times New Roman"/>
              </a:rPr>
              <a:t>Technologies Used</a:t>
            </a:r>
            <a:endParaRPr>
              <a:latin typeface="Times New Roman"/>
              <a:ea typeface="Times New Roman"/>
              <a:cs typeface="Times New Roman"/>
              <a:sym typeface="Times New Roman"/>
            </a:endParaRPr>
          </a:p>
        </p:txBody>
      </p:sp>
      <p:sp>
        <p:nvSpPr>
          <p:cNvPr id="97" name="Google Shape;97;p8"/>
          <p:cNvSpPr txBox="1">
            <a:spLocks noGrp="1"/>
          </p:cNvSpPr>
          <p:nvPr>
            <p:ph type="body" idx="1"/>
          </p:nvPr>
        </p:nvSpPr>
        <p:spPr>
          <a:xfrm>
            <a:off x="665500" y="1439750"/>
            <a:ext cx="7742400" cy="3129000"/>
          </a:xfrm>
          <a:prstGeom prst="rect">
            <a:avLst/>
          </a:prstGeom>
          <a:solidFill>
            <a:schemeClr val="lt1"/>
          </a:solidFill>
          <a:ln>
            <a:noFill/>
          </a:ln>
        </p:spPr>
        <p:txBody>
          <a:bodyPr spcFirstLastPara="1" wrap="square" lIns="91425" tIns="91425" rIns="91425" bIns="91425" anchor="t" anchorCtr="0">
            <a:noAutofit/>
          </a:bodyPr>
          <a:lstStyle/>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Backend: Python 3.11, Flask framework</a:t>
            </a:r>
            <a:endParaRPr sz="1500">
              <a:solidFill>
                <a:schemeClr val="dk1"/>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Database: SQLite, production scalable to PostgreSQL</a:t>
            </a:r>
            <a:endParaRPr sz="1500">
              <a:solidFill>
                <a:schemeClr val="dk1"/>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ORM: Flask-SQLAlchemy, database models</a:t>
            </a:r>
            <a:endParaRPr sz="1500">
              <a:solidFill>
                <a:schemeClr val="dk1"/>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API: RESTful JSON endpoints (/api/issues)</a:t>
            </a:r>
            <a:endParaRPr sz="1500">
              <a:solidFill>
                <a:schemeClr val="dk1"/>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Server: Gunicorn, production deployment</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9"/>
          <p:cNvSpPr txBox="1">
            <a:spLocks noGrp="1"/>
          </p:cNvSpPr>
          <p:nvPr>
            <p:ph type="title"/>
          </p:nvPr>
        </p:nvSpPr>
        <p:spPr>
          <a:xfrm>
            <a:off x="665500" y="575500"/>
            <a:ext cx="8166900" cy="6249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latin typeface="Times New Roman"/>
                <a:ea typeface="Times New Roman"/>
                <a:cs typeface="Times New Roman"/>
                <a:sym typeface="Times New Roman"/>
              </a:rPr>
              <a:t>Results</a:t>
            </a:r>
            <a:endParaRPr>
              <a:latin typeface="Times New Roman"/>
              <a:ea typeface="Times New Roman"/>
              <a:cs typeface="Times New Roman"/>
              <a:sym typeface="Times New Roman"/>
            </a:endParaRPr>
          </a:p>
        </p:txBody>
      </p:sp>
      <p:sp>
        <p:nvSpPr>
          <p:cNvPr id="103" name="Google Shape;103;p9"/>
          <p:cNvSpPr txBox="1">
            <a:spLocks noGrp="1"/>
          </p:cNvSpPr>
          <p:nvPr>
            <p:ph type="body" idx="1"/>
          </p:nvPr>
        </p:nvSpPr>
        <p:spPr>
          <a:xfrm>
            <a:off x="665500" y="1439750"/>
            <a:ext cx="7742400" cy="3129000"/>
          </a:xfrm>
          <a:prstGeom prst="rect">
            <a:avLst/>
          </a:prstGeom>
          <a:solidFill>
            <a:schemeClr val="lt1"/>
          </a:solidFill>
          <a:ln>
            <a:noFill/>
          </a:ln>
        </p:spPr>
        <p:txBody>
          <a:bodyPr spcFirstLastPara="1" wrap="square" lIns="91425" tIns="91425" rIns="91425" bIns="91425" anchor="t" anchorCtr="0">
            <a:noAutofit/>
          </a:bodyPr>
          <a:lstStyle/>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3 test issues successfully stored: 2 potholes and 1 water leak. </a:t>
            </a:r>
            <a:endParaRPr sz="1500">
              <a:solidFill>
                <a:schemeClr val="dk1"/>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Status tracking is working, with 1 resolved and 2 open. </a:t>
            </a:r>
            <a:endParaRPr sz="1500">
              <a:solidFill>
                <a:schemeClr val="dk1"/>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Category filtering is functional, with Pothole assigned to ID1 and Water Leak to ID2. </a:t>
            </a:r>
            <a:endParaRPr sz="1500">
              <a:solidFill>
                <a:schemeClr val="dk1"/>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The API endpoints are operational:  </a:t>
            </a:r>
            <a:endParaRPr sz="1500">
              <a:solidFill>
                <a:schemeClr val="dk1"/>
              </a:solidFill>
              <a:latin typeface="Times New Roman"/>
              <a:ea typeface="Times New Roman"/>
              <a:cs typeface="Times New Roman"/>
              <a:sym typeface="Times New Roman"/>
            </a:endParaRPr>
          </a:p>
          <a:p>
            <a:pPr marL="914400" lvl="1"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GET /api/issues lists all complaints.  </a:t>
            </a:r>
            <a:endParaRPr sz="1500">
              <a:solidFill>
                <a:schemeClr val="dk1"/>
              </a:solidFill>
              <a:latin typeface="Times New Roman"/>
              <a:ea typeface="Times New Roman"/>
              <a:cs typeface="Times New Roman"/>
              <a:sym typeface="Times New Roman"/>
            </a:endParaRPr>
          </a:p>
          <a:p>
            <a:pPr marL="914400" lvl="1"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POST /api/issues creates new reports.  </a:t>
            </a:r>
            <a:endParaRPr sz="1500">
              <a:solidFill>
                <a:schemeClr val="dk1"/>
              </a:solidFill>
              <a:latin typeface="Times New Roman"/>
              <a:ea typeface="Times New Roman"/>
              <a:cs typeface="Times New Roman"/>
              <a:sym typeface="Times New Roman"/>
            </a:endParaRPr>
          </a:p>
          <a:p>
            <a:pPr marL="914400" lvl="1"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PATCH /api/issues/1 updates the status to resolved.  </a:t>
            </a:r>
            <a:endParaRPr sz="1500">
              <a:solidFill>
                <a:schemeClr val="dk1"/>
              </a:solidFill>
              <a:latin typeface="Times New Roman"/>
              <a:ea typeface="Times New Roman"/>
              <a:cs typeface="Times New Roman"/>
              <a:sym typeface="Times New Roman"/>
            </a:endParaRPr>
          </a:p>
          <a:p>
            <a:pPr marL="457200" lvl="0" indent="-323850" algn="just" rtl="0">
              <a:lnSpc>
                <a:spcPct val="150000"/>
              </a:lnSpc>
              <a:spcBef>
                <a:spcPts val="0"/>
              </a:spcBef>
              <a:spcAft>
                <a:spcPts val="0"/>
              </a:spcAft>
              <a:buClr>
                <a:schemeClr val="dk1"/>
              </a:buClr>
              <a:buSzPts val="1500"/>
              <a:buFont typeface="Times New Roman"/>
              <a:buChar char="●"/>
            </a:pPr>
            <a:r>
              <a:rPr lang="en-GB" sz="1500">
                <a:solidFill>
                  <a:schemeClr val="dk1"/>
                </a:solidFill>
                <a:latin typeface="Times New Roman"/>
                <a:ea typeface="Times New Roman"/>
                <a:cs typeface="Times New Roman"/>
                <a:sym typeface="Times New Roman"/>
              </a:rPr>
              <a:t>The homepage is deployed with manual navigation links. There is zero downtime during local testing, which runs on python app.py.</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10"/>
          <p:cNvPicPr preferRelativeResize="0"/>
          <p:nvPr/>
        </p:nvPicPr>
        <p:blipFill rotWithShape="1">
          <a:blip r:embed="rId3">
            <a:alphaModFix/>
          </a:blip>
          <a:srcRect/>
          <a:stretch/>
        </p:blipFill>
        <p:spPr>
          <a:xfrm>
            <a:off x="0" y="0"/>
            <a:ext cx="9128100" cy="51435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1"/>
          <p:cNvSpPr txBox="1">
            <a:spLocks noGrp="1"/>
          </p:cNvSpPr>
          <p:nvPr>
            <p:ph type="title"/>
          </p:nvPr>
        </p:nvSpPr>
        <p:spPr>
          <a:xfrm>
            <a:off x="665500" y="575500"/>
            <a:ext cx="8166900" cy="6249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GB">
                <a:latin typeface="Times New Roman"/>
                <a:ea typeface="Times New Roman"/>
                <a:cs typeface="Times New Roman"/>
                <a:sym typeface="Times New Roman"/>
              </a:rPr>
              <a:t>Conclusion</a:t>
            </a:r>
            <a:endParaRPr>
              <a:latin typeface="Times New Roman"/>
              <a:ea typeface="Times New Roman"/>
              <a:cs typeface="Times New Roman"/>
              <a:sym typeface="Times New Roman"/>
            </a:endParaRPr>
          </a:p>
        </p:txBody>
      </p:sp>
      <p:sp>
        <p:nvSpPr>
          <p:cNvPr id="114" name="Google Shape;114;p11"/>
          <p:cNvSpPr txBox="1">
            <a:spLocks noGrp="1"/>
          </p:cNvSpPr>
          <p:nvPr>
            <p:ph type="body" idx="1"/>
          </p:nvPr>
        </p:nvSpPr>
        <p:spPr>
          <a:xfrm>
            <a:off x="665500" y="1439750"/>
            <a:ext cx="7742400" cy="3129000"/>
          </a:xfrm>
          <a:prstGeom prst="rect">
            <a:avLst/>
          </a:prstGeom>
          <a:solidFill>
            <a:schemeClr val="lt1"/>
          </a:solid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1200"/>
              </a:spcAft>
              <a:buSzPts val="1800"/>
              <a:buNone/>
            </a:pPr>
            <a:r>
              <a:rPr lang="en-GB" sz="1500">
                <a:solidFill>
                  <a:schemeClr val="dk1"/>
                </a:solidFill>
                <a:latin typeface="Times New Roman"/>
                <a:ea typeface="Times New Roman"/>
                <a:cs typeface="Times New Roman"/>
                <a:sym typeface="Times New Roman"/>
              </a:rPr>
              <a:t>We created a complete citizen issue reporting backend with Flask. This system allows easy reporting of potholes, water leaks, and street lights through mobile apps, WhatsApp, and SMS. City workers can access organized complaints and track their status from open to resolved. They can also filter by category and urgency. The ready-to-use system deploys quickly on render.com, creating an efficient workflow that improves maintenance and response times for Hyderabad's infrastructure.</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582</Words>
  <Application>Microsoft Office PowerPoint</Application>
  <PresentationFormat>On-screen Show (16:9)</PresentationFormat>
  <Paragraphs>46</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Average</vt:lpstr>
      <vt:lpstr>Times New Roman</vt:lpstr>
      <vt:lpstr>Arial</vt:lpstr>
      <vt:lpstr>Oswald</vt:lpstr>
      <vt:lpstr>Slate</vt:lpstr>
      <vt:lpstr>PowerPoint Presentation</vt:lpstr>
      <vt:lpstr>Problem Statement</vt:lpstr>
      <vt:lpstr>Proposed Solution</vt:lpstr>
      <vt:lpstr>Objectives</vt:lpstr>
      <vt:lpstr>System Architecture</vt:lpstr>
      <vt:lpstr>Technical Workflow</vt:lpstr>
      <vt:lpstr>Features</vt:lpstr>
      <vt:lpstr>Technologies Used</vt:lpstr>
      <vt:lpstr>Results</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Swathi Royal Kotte</cp:lastModifiedBy>
  <cp:revision>1</cp:revision>
  <dcterms:modified xsi:type="dcterms:W3CDTF">2026-02-27T13:46:27Z</dcterms:modified>
</cp:coreProperties>
</file>